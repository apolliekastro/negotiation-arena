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Питч: «Арена Переговоров» — интерактивный симулятор переговоров. Демо: настройка контекста администратором → диалог → отчёт с обратной связью.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Очные тренинги работают, но не масштабируются: дорого, мало попыток, нет разбора именно ваших формулировок. Чтение теории без практики не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слайд продуктовой части: безопасная практика, многократные попытки, персональный разбор, настройка под задачу.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Полный цикл проходится за одну сессию (десятки минут). Шаг 4 — ветвление: можно откатиться и попробовать другую тактику.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для жюри: исход действительно зависит от действий игрока — это детерминированный скоринг, а не «LLM решила, что вы проиграли».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Демонстрационный слайд: Админка → Сценарии → ИИ-генератор: задаём сферу, тему, сложность, роли, цели и тон → получаем черновик.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Очки и прогрессия поощряют повторять; отчёт превращает попытку в урок.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Ключевое: прототип запускается на обычной машине за минуту; демо работает без интернета через встроенный mock-провайдер.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уже работает, а что — осознанно вне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Демо-скрипт: 1) запуск, 2) вход admin/admin123, 3) ИИ-генератор с контекстом → диалог →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практика вместо теории, объяснимый результат, настройка под аудиторию. Ссылки: репозиторий, документация docs/, презентация.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EEF7"/>
                </a:solidFill>
                <a:latin typeface="Segoe UI"/>
              </a:rPr>
              <a:t>«Арена Переговоров»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971800"/>
            <a:ext cx="2011680" cy="64008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C6F24E"/>
                </a:solidFill>
                <a:latin typeface="Segoe UI"/>
              </a:rPr>
              <a:t>Интерактивный симулятор переговоров с ИИ-собеседником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9AA7B8"/>
                </a:solidFill>
                <a:latin typeface="Segoe UI"/>
              </a:rPr>
              <a:t>Безопасная практика делового общения · исход зависит от вашей тактики · обратная связь после каждого диалога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7B8"/>
                </a:solidFill>
                <a:latin typeface="Segoe UI"/>
              </a:rPr>
              <a:t>MVP готов · Rust + SQLite + SPA · демо работает без интернета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ЗАЧЕМ ЭТО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Проблема и аудитория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40680" cy="44805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Проблема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Переговоры учат «на бумаге»: лекции, чек-листы, кейсы без живого диалога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Очные ролевые игры плохо масштабируются: дорого, не в любой момент, мало попыток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Разбирают кейс «в общем», а не ваши конкретные формулировки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Обратной связи после диалога почти нет: непонятно, что сработало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5074920" cy="44805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Целевая аудитория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Основная: студенты, стажёры, junior-специалисты — подготовка к реальным сделкам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Вторичная: sales, закупки, account management — сложные кейсы и ультиматумы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Канал: преподаватели и корпоративные тренеры — повторяемый симулятор с разбором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Не для: юридически значимых консультаций и замены коуча 1:1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Чем это лучше обычного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 i="1">
                <a:solidFill>
                  <a:srgbClr val="9AA7B8"/>
                </a:solidFill>
                <a:latin typeface="Segoe UI"/>
              </a:rPr>
              <a:t>Теория без тренировки</a:t>
            </a:r>
            <a:r>
              <a:rPr sz="1700" b="1" i="0">
                <a:solidFill>
                  <a:srgbClr val="C6F24E"/>
                </a:solidFill>
                <a:latin typeface="Segoe UI"/>
              </a:rPr>
              <a:t>   →  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живой диалог с ИИ-собеседником и неограниченные попытки</a:t>
            </a:r>
          </a:p>
          <a:p>
            <a:pPr>
              <a:spcAft>
                <a:spcPts val="1600"/>
              </a:spcAft>
            </a:pPr>
            <a:r>
              <a:rPr sz="1700" b="0" i="1">
                <a:solidFill>
                  <a:srgbClr val="9AA7B8"/>
                </a:solidFill>
                <a:latin typeface="Segoe UI"/>
              </a:rPr>
              <a:t>Разбор кейса «на бумаге»</a:t>
            </a:r>
            <a:r>
              <a:rPr sz="1700" b="1" i="0">
                <a:solidFill>
                  <a:srgbClr val="C6F24E"/>
                </a:solidFill>
                <a:latin typeface="Segoe UI"/>
              </a:rPr>
              <a:t>   →  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скоринг каждой реплики: стратегия, аргументация, тон, SPIN</a:t>
            </a:r>
          </a:p>
          <a:p>
            <a:pPr>
              <a:spcAft>
                <a:spcPts val="1600"/>
              </a:spcAft>
            </a:pPr>
            <a:r>
              <a:rPr sz="1700" b="0" i="1">
                <a:solidFill>
                  <a:srgbClr val="9AA7B8"/>
                </a:solidFill>
                <a:latin typeface="Segoe UI"/>
              </a:rPr>
              <a:t>Занятие по расписанию тренера</a:t>
            </a:r>
            <a:r>
              <a:rPr sz="1700" b="1" i="0">
                <a:solidFill>
                  <a:srgbClr val="C6F24E"/>
                </a:solidFill>
                <a:latin typeface="Segoe UI"/>
              </a:rPr>
              <a:t>   →  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сценарий под нужную задачу настраивается за минуты</a:t>
            </a:r>
          </a:p>
          <a:p>
            <a:pPr>
              <a:spcAft>
                <a:spcPts val="1600"/>
              </a:spcAft>
            </a:pPr>
            <a:r>
              <a:rPr sz="1700" b="0" i="1">
                <a:solidFill>
                  <a:srgbClr val="9AA7B8"/>
                </a:solidFill>
                <a:latin typeface="Segoe UI"/>
              </a:rPr>
              <a:t>«Что я сделал не так?» — непонятно</a:t>
            </a:r>
            <a:r>
              <a:rPr sz="1700" b="1" i="0">
                <a:solidFill>
                  <a:srgbClr val="C6F24E"/>
                </a:solidFill>
                <a:latin typeface="Segoe UI"/>
              </a:rPr>
              <a:t>   →  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итоговый отчёт: финал, разбор и конкретные рекомендации</a:t>
            </a:r>
          </a:p>
          <a:p>
            <a:pPr>
              <a:spcAft>
                <a:spcPts val="1600"/>
              </a:spcAft>
            </a:pPr>
            <a:r>
              <a:rPr sz="1700" b="0" i="1">
                <a:solidFill>
                  <a:srgbClr val="9AA7B8"/>
                </a:solidFill>
                <a:latin typeface="Segoe UI"/>
              </a:rPr>
              <a:t>Один кейс на всех</a:t>
            </a:r>
            <a:r>
              <a:rPr sz="1700" b="1" i="0">
                <a:solidFill>
                  <a:srgbClr val="C6F24E"/>
                </a:solidFill>
                <a:latin typeface="Segoe UI"/>
              </a:rPr>
              <a:t>   →  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один тренажёр под sales, закупки, HR и учебные программы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Путь пользователя: от входа до разбора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1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Вход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регистрация / логин, язык ru·en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2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Каталог сценариев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фильтры: сложность, сфера, поиск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4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3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Диалог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текстом или голосовым звонком (STT/TTS)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68696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4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Ветвление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откат к реплике и форк — сравни тактики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6328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5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Отчёт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балл, финал, разбор, рекомендации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6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Прогрессия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XP, уровень, лидерборд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51592" y="1920240"/>
            <a:ext cx="1517904" cy="3108960"/>
          </a:xfrm>
          <a:prstGeom prst="roundRect">
            <a:avLst/>
          </a:prstGeom>
          <a:solidFill>
            <a:srgbClr val="131A24"/>
          </a:solidFill>
          <a:ln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82880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6F24E"/>
                </a:solidFill>
                <a:latin typeface="Segoe UI"/>
              </a:rPr>
              <a:t>7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8EEF7"/>
                </a:solidFill>
                <a:latin typeface="Segoe UI"/>
              </a:rPr>
              <a:t>Повтор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Segoe UI"/>
              </a:rPr>
              <a:t>новая попытка или другой сценарий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03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7B8"/>
                </a:solidFill>
                <a:latin typeface="Segoe UI"/>
              </a:rPr>
              <a:t>Одна сессия = полный цикл «вход → разбор». Попытки не ограничены — тренировка дешевле, чем ошибка в реальных переговорах.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ИГРОВОЙ ПРОЦЕСС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EEF7"/>
                </a:solidFill>
                <a:latin typeface="Segoe UI"/>
              </a:rPr>
              <a:t>Механики: как формулировки превращаются в исход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4068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От стратегии к баллу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Каждая реплика анализируется: сотрудничество / компромисс / конфронтация, аргументация, тон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Бонусы за техники: SPIN, интересы сторон, объективные критерии (Гарвардский метод)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LLM-судья 0–10 дополняет эвристику (доля настраивается админом)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Сложность easy / medium / hard меняет поведение собеседника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BATNA обеих сторон заложен в сценарий: на hard собеседник использует свою альтернативу как рычаг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507492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Ветвление и финалы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Дерево реплик: откат к реплике собеседника → форк (до 16 веток), прежний путь сохраняется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Снапшот счёта в точке ветвления — можно сравнивать тактики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Финалы по порогам балла: победа / компромисс / срыв переговоров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Финалы описывает администратор — свой исход под каждую задачу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АДМИНИСТРАТОР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Конфигурируемость под контекст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4068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Контекст на входе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Сфера и тема переговоров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Сложность: easy / medium / hard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Роль и цели сторон, BATNA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Тон, манера и черты собеседника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Это же влияет на system prompt диалога — сценарий и поведение ИИ связаны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507492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Два пути получить сценарий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Конструктор — все поля вручную, свои финалы и пороги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ИИ-генератор — бриф + контекст → готовый черновик за секунды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Заданные поля применяются буквально — воля администратора приоритетнее ИИ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Черновик вычитывается и публикуется одной кнопкой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600" b="0" i="0">
                <a:solidFill>
                  <a:srgbClr val="E8EEF7"/>
                </a:solidFill>
                <a:latin typeface="Segoe UI"/>
              </a:rPr>
              <a:t>Импорт / экспорт JSON — обмен сценариями между группами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ОПЦИОНАЛЬНО — НО УЖЕ ЕСТЬ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Геймификация и обратная связь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538728" cy="44805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Очки и прогресс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Балл за каждый ход — видно сразу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XP за завершённые сессии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10 уровней с названиями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Ледерборд между игроками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554480"/>
            <a:ext cx="3538728" cy="44805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Циклы обратной связи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Реакция собеседника в процессе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Итоговый отчёт: финал и баллы по измерениям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Разбор (markdown) на языке интерфейса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Персональные рекомендации: что улучшить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554480"/>
            <a:ext cx="3392424" cy="448056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Живость диалога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Текстовый чат или голосовой звонок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Реплика открытия из сценария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Тон собеседника зависит от контекста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Многократные попытки без ограничений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Технические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4068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Архитектура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Rust / Axum — модульный монолит: domain · application · infrastructure · web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SQLite с версионными миграциями — демо не ломается после перезапуска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SPA vanilla-JS без сборщика — отдаётся сервером как есть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HTTP API версионирован: /api/v1, health /health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Docker-образ и docker-compose с healthcheck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507492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AI, голос и безопасность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LLM не обязателен: OpenAI-совместимые / Anthropic / Gemini / Ollama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Встроенный mock-провайдер — полное демо без ключей и интернета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Голос опционально: STT и TTS (облачные и локальные модели)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JWT + refresh, RBAC, Argon2, AES-256-GCM для API-ключей, rate-limit, аудит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258 автотестов, CI: fmt + clippy -D warnings +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ЧЕСТНЫЙ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Границы MVP и дорожная карта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4068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Есть в MVP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Диалог (текст и голос), скоринг ходов + LLM-судья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Ветвление диалога, финалы по порогам, отчёт с рекомендациями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Админка: сценарии, пользователи, провайдеры, настройки, аудит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XP / уровни / лидерборд, i18n ru·en, mock-демо, Docker, 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54480"/>
            <a:ext cx="5074920" cy="452628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9AA7B8"/>
                </a:solidFill>
                <a:latin typeface="Segoe UI"/>
              </a:rPr>
              <a:t>Дальше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Публичный деплой (Vercel / Railway / Render)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Достижения и стрики — глубже геймификация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Сюжетные деревья сценариев (ветки внутри кейса)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E8EEF7"/>
                </a:solidFill>
                <a:latin typeface="Segoe UI"/>
              </a:rPr>
              <a:t>Стриминг ответов, мобильная версия, командные режимы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F24E"/>
                </a:solidFill>
                <a:latin typeface="Segoe UI"/>
              </a:rPr>
              <a:t>КАК ПОКАЗАТЬ ЖЮРИ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EF7"/>
                </a:solidFill>
                <a:latin typeface="Segoe UI"/>
              </a:rPr>
              <a:t>Демонстрация: запуск за 3 шага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6"/>
            <a:ext cx="1280160" cy="45720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1.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git clone &lt;репозиторий&gt; &amp;&amp; cp .env.example .env &amp;&amp; cargo run</a:t>
            </a:r>
          </a:p>
          <a:p>
            <a:pPr lvl="1">
              <a:spcAft>
                <a:spcPts val="18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     или docker compose up -d — без ручной настройки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2.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Открыть http://localhost:3001 → войти admin / admin123</a:t>
            </a:r>
          </a:p>
          <a:p>
            <a:pPr lvl="1">
              <a:spcAft>
                <a:spcPts val="18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     демо работает офлайн: встроенный mock-LLM отвечает без ключей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3. </a:t>
            </a:r>
            <a:r>
              <a:rPr sz="1700" b="1" i="0">
                <a:solidFill>
                  <a:srgbClr val="E8EEF7"/>
                </a:solidFill>
                <a:latin typeface="Segoe UI"/>
              </a:rPr>
              <a:t>Админка → Сценарии → ✨ ИИ-генератор (сфера, тема, сложность, роли, тон) → Игрок → Начать → Завершить → Отчёт</a:t>
            </a:r>
          </a:p>
          <a:p>
            <a:pPr lvl="1">
              <a:spcAft>
                <a:spcPts val="18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     настройка контекста → диалог → обратная связь — ключевой сценарий демо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46320"/>
            <a:ext cx="10835640" cy="1188720"/>
          </a:xfrm>
          <a:prstGeom prst="roundRect">
            <a:avLst/>
          </a:prstGeom>
          <a:solidFill>
            <a:srgbClr val="131A24"/>
          </a:solidFill>
          <a:ln w="12700">
            <a:solidFill>
              <a:srgbClr val="1A2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64592"/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6F24E"/>
                </a:solidFill>
                <a:latin typeface="Segoe UI"/>
              </a:rPr>
              <a:t>Требования к машине жюри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6F24E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E8EEF7"/>
                </a:solidFill>
                <a:latin typeface="Segoe UI"/>
              </a:rPr>
              <a:t>Любой ноутбук с браузером · Rust или Docker · интернет не обязателен для демо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7B8"/>
                </a:solidFill>
                <a:latin typeface="Segoe UI"/>
              </a:rPr>
              <a:t>Арена Переговоров · хакатон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8EEF7"/>
                </a:solidFill>
                <a:latin typeface="Segoe UI"/>
              </a:rPr>
              <a:t>Итог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148840"/>
            <a:ext cx="1645920" cy="54864"/>
          </a:xfrm>
          <a:prstGeom prst="rect">
            <a:avLst/>
          </a:prstGeom>
          <a:solidFill>
            <a:srgbClr val="C6F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▸ </a:t>
            </a:r>
            <a:r>
              <a:rPr sz="1900" b="0" i="0">
                <a:solidFill>
                  <a:srgbClr val="E8EEF7"/>
                </a:solidFill>
                <a:latin typeface="Segoe UI"/>
              </a:rPr>
              <a:t>Практика вместо теории: безопасный диалог и неограниченные попытки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▸ </a:t>
            </a:r>
            <a:r>
              <a:rPr sz="1900" b="0" i="0">
                <a:solidFill>
                  <a:srgbClr val="E8EEF7"/>
                </a:solidFill>
                <a:latin typeface="Segoe UI"/>
              </a:rPr>
              <a:t>Исход зависит от вашей тактики — и всегда объясняется разбором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C6F24E"/>
                </a:solidFill>
                <a:latin typeface="Segoe UI"/>
              </a:rPr>
              <a:t>▸ </a:t>
            </a:r>
            <a:r>
              <a:rPr sz="1900" b="0" i="0">
                <a:solidFill>
                  <a:srgbClr val="E8EEF7"/>
                </a:solidFill>
                <a:latin typeface="Segoe UI"/>
              </a:rPr>
              <a:t>Настраивается под любую аудиторию: sales, закупки, HR, 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7B8"/>
                </a:solidFill>
                <a:latin typeface="Segoe UI"/>
              </a:rPr>
              <a:t>Репозиторий · docs/CONCEPT.md · docs/DOCUMENTATION.md · docs/presentation.pptx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6F24E"/>
                </a:solidFill>
                <a:latin typeface="Segoe UI"/>
              </a:rPr>
              <a:t>Спасибо!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